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app0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package/2006/relationships/metadata/extended-properties" Target="docProps/app0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sldSz cx="9144000" cy="5143500" type="screen16x9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2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43" autoAdjust="0"/>
    <p:restoredTop sz="94726" autoAdjust="0"/>
  </p:normalViewPr>
  <p:slideViewPr>
    <p:cSldViewPr snapToGrid="0" snapToObjects="1">
      <p:cViewPr varScale="1">
        <p:scale>
          <a:sx n="160" d="100"/>
          <a:sy n="160" d="100"/>
        </p:scale>
        <p:origin x="776" y="176"/>
      </p:cViewPr>
      <p:guideLst>
        <p:guide orient="horz" pos="162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2914650"/>
            <a:ext cx="6400800" cy="131445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3429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685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0287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7145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057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4003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1/13/26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435751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1/13/26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34600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 anchor="t"/>
          <a:lstStyle>
            <a:lvl1pPr algn="l">
              <a:defRPr sz="3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180035"/>
            <a:ext cx="7772400" cy="1125140"/>
          </a:xfrm>
        </p:spPr>
        <p:txBody>
          <a:bodyPr anchor="b"/>
          <a:lstStyle>
            <a:lvl1pPr marL="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1/13/26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306907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200151"/>
            <a:ext cx="4038600" cy="3394472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200151"/>
            <a:ext cx="4038600" cy="3394472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1/13/26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988624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151335"/>
            <a:ext cx="4040188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1631156"/>
            <a:ext cx="4040188" cy="2963466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6" y="1151335"/>
            <a:ext cx="4041775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6" y="1631156"/>
            <a:ext cx="4041775" cy="2963466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1/13/26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579396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1/13/26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272125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1/13/26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090109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04788"/>
            <a:ext cx="5111750" cy="4389835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1" y="1076326"/>
            <a:ext cx="3008313" cy="351829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1/13/26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089564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3600450"/>
            <a:ext cx="5486400" cy="425054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459581"/>
            <a:ext cx="5486400" cy="3086100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4025503"/>
            <a:ext cx="5486400" cy="60364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1/13/26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68998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1/13/26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91479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05979"/>
            <a:ext cx="2057400" cy="4388644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05979"/>
            <a:ext cx="6019800" cy="438864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1/13/26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152904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200151"/>
            <a:ext cx="8229600" cy="339447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41EB5C9-1307-BA42-ABA2-0BC069CD8E7F}" type="datetimeFigureOut">
              <a:rPr lang="en-US" smtClean="0"/>
              <a:t>1/13/26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620087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342900" rtl="0" eaLnBrk="1" latinLnBrk="0" hangingPunct="1"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3429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342900" algn="l" defTabSz="342900" rtl="0" eaLnBrk="1" latinLnBrk="0" hangingPunct="1">
        <a:spcBef>
          <a:spcPct val="20000"/>
        </a:spcBef>
        <a:buFont typeface="Arial"/>
        <a:buChar char="–"/>
        <a:defRPr sz="2100" kern="1200">
          <a:solidFill>
            <a:schemeClr val="tx1"/>
          </a:solidFill>
          <a:latin typeface="+mn-lt"/>
          <a:ea typeface="+mn-ea"/>
          <a:cs typeface="+mn-cs"/>
        </a:defRPr>
      </a:lvl2pPr>
      <a:lvl3pPr marL="1028700" indent="-342900" algn="l" defTabSz="342900" rtl="0" eaLnBrk="1" latinLnBrk="0" hangingPunct="1">
        <a:spcBef>
          <a:spcPct val="200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indent="-342900" algn="l" defTabSz="342900" rtl="0" eaLnBrk="1" latinLnBrk="0" hangingPunct="1">
        <a:spcBef>
          <a:spcPct val="20000"/>
        </a:spcBef>
        <a:buFont typeface="Arial"/>
        <a:buChar char="–"/>
        <a:defRPr sz="1500" kern="1200">
          <a:solidFill>
            <a:schemeClr val="tx1"/>
          </a:solidFill>
          <a:latin typeface="+mn-lt"/>
          <a:ea typeface="+mn-ea"/>
          <a:cs typeface="+mn-cs"/>
        </a:defRPr>
      </a:lvl4pPr>
      <a:lvl5pPr marL="1714500" indent="-342900" algn="l" defTabSz="342900" rtl="0" eaLnBrk="1" latinLnBrk="0" hangingPunct="1">
        <a:spcBef>
          <a:spcPct val="20000"/>
        </a:spcBef>
        <a:buFont typeface="Arial"/>
        <a:buChar char="»"/>
        <a:defRPr sz="1500" kern="1200">
          <a:solidFill>
            <a:schemeClr val="tx1"/>
          </a:solidFill>
          <a:latin typeface="+mn-lt"/>
          <a:ea typeface="+mn-ea"/>
          <a:cs typeface="+mn-cs"/>
        </a:defRPr>
      </a:lvl5pPr>
      <a:lvl6pPr marL="2057400" indent="-342900" algn="l" defTabSz="342900" rtl="0" eaLnBrk="1" latinLnBrk="0" hangingPunct="1">
        <a:spcBef>
          <a:spcPct val="20000"/>
        </a:spcBef>
        <a:buFont typeface="Arial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6pPr>
      <a:lvl7pPr marL="2400300" indent="-342900" algn="l" defTabSz="342900" rtl="0" eaLnBrk="1" latinLnBrk="0" hangingPunct="1">
        <a:spcBef>
          <a:spcPct val="20000"/>
        </a:spcBef>
        <a:buFont typeface="Arial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7pPr>
      <a:lvl8pPr marL="2743200" indent="-342900" algn="l" defTabSz="342900" rtl="0" eaLnBrk="1" latinLnBrk="0" hangingPunct="1">
        <a:spcBef>
          <a:spcPct val="20000"/>
        </a:spcBef>
        <a:buFont typeface="Arial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8pPr>
      <a:lvl9pPr marL="3086100" indent="-342900" algn="l" defTabSz="342900" rtl="0" eaLnBrk="1" latinLnBrk="0" hangingPunct="1">
        <a:spcBef>
          <a:spcPct val="20000"/>
        </a:spcBef>
        <a:buFont typeface="Arial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/>
          <a:lstStyle/>
          <a:p>
            <a:pPr marL="0" lvl="0" indent="0">
              <a:buNone/>
            </a:pPr>
            <a:r>
              <a:rPr dirty="0"/>
              <a:t>WMM Altitude Error Visualizer</a:t>
            </a:r>
            <a:br>
              <a:rPr lang="en-US" dirty="0"/>
            </a:br>
            <a:r>
              <a:rPr lang="en-US" dirty="0"/>
              <a:t>BY </a:t>
            </a:r>
            <a:r>
              <a:rPr lang="en-US" dirty="0" err="1"/>
              <a:t>claude</a:t>
            </a:r>
            <a:r>
              <a:rPr lang="en-US" dirty="0"/>
              <a:t> code and </a:t>
            </a:r>
            <a:r>
              <a:rPr lang="en-US" dirty="0" err="1"/>
              <a:t>manoj</a:t>
            </a:r>
            <a:endParaRPr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88275"/>
            <a:ext cx="8229600" cy="857250"/>
          </a:xfrm>
        </p:spPr>
        <p:txBody>
          <a:bodyPr>
            <a:normAutofit fontScale="90000"/>
          </a:bodyPr>
          <a:lstStyle/>
          <a:p>
            <a:pPr marL="0" lvl="0" indent="0">
              <a:buNone/>
            </a:pPr>
            <a:r>
              <a:rPr dirty="0"/>
              <a:t>Development Journey: From MATLAB to Interactive Web App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lvl="0" indent="0">
              <a:buNone/>
            </a:pPr>
            <a:r>
              <a:t>Slide 1: Project Genesis - From MATLAB to Web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93192" y="980695"/>
            <a:ext cx="8229600" cy="3394472"/>
          </a:xfrm>
        </p:spPr>
        <p:txBody>
          <a:bodyPr>
            <a:normAutofit fontScale="62500" lnSpcReduction="20000"/>
          </a:bodyPr>
          <a:lstStyle/>
          <a:p>
            <a:pPr marL="0" lvl="0" indent="0">
              <a:spcBef>
                <a:spcPts val="3000"/>
              </a:spcBef>
              <a:buNone/>
            </a:pPr>
            <a:r>
              <a:rPr b="1" dirty="0"/>
              <a:t>The Challenge</a:t>
            </a:r>
          </a:p>
          <a:p>
            <a:pPr lvl="0"/>
            <a:r>
              <a:rPr b="1" dirty="0"/>
              <a:t>Starting Point</a:t>
            </a:r>
            <a:r>
              <a:rPr dirty="0"/>
              <a:t>: MATLAB scripts for WMM (World Magnetic Model) altitude error analysis</a:t>
            </a:r>
          </a:p>
          <a:p>
            <a:pPr lvl="0"/>
            <a:r>
              <a:rPr b="1" dirty="0"/>
              <a:t>Goal</a:t>
            </a:r>
            <a:r>
              <a:rPr dirty="0"/>
              <a:t>: Transform static MATLAB analysis into an interactive web-based visualization tool</a:t>
            </a:r>
          </a:p>
          <a:p>
            <a:pPr lvl="0"/>
            <a:r>
              <a:rPr b="1" dirty="0"/>
              <a:t>Key Requirements</a:t>
            </a:r>
            <a:r>
              <a:rPr dirty="0"/>
              <a:t>:</a:t>
            </a:r>
          </a:p>
          <a:p>
            <a:pPr lvl="1"/>
            <a:r>
              <a:rPr dirty="0"/>
              <a:t>Preserve scientific accuracy from original MATLAB calculations</a:t>
            </a:r>
          </a:p>
          <a:p>
            <a:pPr lvl="1"/>
            <a:r>
              <a:rPr dirty="0"/>
              <a:t>Enable interactive exploration of error profiles across different components (F, H, X, Y, Z, D, I)</a:t>
            </a:r>
          </a:p>
          <a:p>
            <a:pPr lvl="1"/>
            <a:r>
              <a:rPr dirty="0"/>
              <a:t>Support multiple error models (</a:t>
            </a:r>
            <a:r>
              <a:rPr dirty="0" err="1"/>
              <a:t>MilSpec</a:t>
            </a:r>
            <a:r>
              <a:rPr dirty="0"/>
              <a:t>, WMM Error Model)</a:t>
            </a:r>
          </a:p>
          <a:p>
            <a:pPr lvl="1"/>
            <a:r>
              <a:rPr dirty="0"/>
              <a:t>Visualize geomagnetic activity levels (G0-G5, </a:t>
            </a:r>
            <a:r>
              <a:rPr dirty="0" err="1"/>
              <a:t>Kp</a:t>
            </a:r>
            <a:r>
              <a:rPr dirty="0"/>
              <a:t> indices)</a:t>
            </a:r>
          </a:p>
          <a:p>
            <a:pPr marL="0" lvl="0" indent="0">
              <a:spcBef>
                <a:spcPts val="3000"/>
              </a:spcBef>
              <a:buNone/>
            </a:pPr>
            <a:r>
              <a:rPr b="1" dirty="0"/>
              <a:t>Data Pipeline</a:t>
            </a:r>
          </a:p>
          <a:p>
            <a:pPr marL="342900" lvl="0" indent="-342900">
              <a:buAutoNum type="arabicPeriod"/>
            </a:pPr>
            <a:r>
              <a:rPr b="1" dirty="0"/>
              <a:t>MATLAB Processing</a:t>
            </a:r>
            <a:r>
              <a:rPr dirty="0"/>
              <a:t>: Computed global average errors at 29 altitude levels (0-10,000 km)</a:t>
            </a:r>
          </a:p>
          <a:p>
            <a:pPr marL="342900" lvl="0" indent="-342900">
              <a:buAutoNum type="arabicPeriod"/>
            </a:pPr>
            <a:r>
              <a:rPr b="1" dirty="0"/>
              <a:t>JSON Export</a:t>
            </a:r>
            <a:r>
              <a:rPr dirty="0"/>
              <a:t>: Converted MATLAB </a:t>
            </a:r>
            <a:r>
              <a:rPr dirty="0">
                <a:latin typeface="Courier"/>
              </a:rPr>
              <a:t>.mat</a:t>
            </a:r>
            <a:r>
              <a:rPr dirty="0"/>
              <a:t> files to JSON format for web consumption</a:t>
            </a:r>
          </a:p>
          <a:p>
            <a:pPr marL="342900" lvl="0" indent="-342900">
              <a:buAutoNum type="arabicPeriod"/>
            </a:pPr>
            <a:r>
              <a:rPr b="1" dirty="0"/>
              <a:t>Data Structure</a:t>
            </a:r>
            <a:r>
              <a:rPr dirty="0"/>
              <a:t>: </a:t>
            </a:r>
            <a:r>
              <a:rPr dirty="0">
                <a:latin typeface="Courier"/>
              </a:rPr>
              <a:t>G0_data_with_commission.json</a:t>
            </a:r>
            <a:r>
              <a:rPr dirty="0"/>
              <a:t>, </a:t>
            </a:r>
            <a:r>
              <a:rPr dirty="0">
                <a:latin typeface="Courier"/>
              </a:rPr>
              <a:t>G1_data...</a:t>
            </a:r>
            <a:r>
              <a:rPr dirty="0"/>
              <a:t>, through </a:t>
            </a:r>
            <a:r>
              <a:rPr dirty="0">
                <a:latin typeface="Courier"/>
              </a:rPr>
              <a:t>G5_data...</a:t>
            </a:r>
            <a:r>
              <a:rPr dirty="0"/>
              <a:t>, plus </a:t>
            </a:r>
            <a:r>
              <a:rPr dirty="0" err="1">
                <a:latin typeface="Courier"/>
              </a:rPr>
              <a:t>WMM_data.json</a:t>
            </a:r>
            <a:endParaRPr dirty="0">
              <a:latin typeface="Courier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lvl="0" indent="0">
              <a:buNone/>
            </a:pPr>
            <a:r>
              <a:t>Slide 2: Technology Stack &amp; Architecture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874514"/>
            <a:ext cx="8229600" cy="3394472"/>
          </a:xfrm>
        </p:spPr>
        <p:txBody>
          <a:bodyPr>
            <a:normAutofit fontScale="85000" lnSpcReduction="20000"/>
          </a:bodyPr>
          <a:lstStyle/>
          <a:p>
            <a:pPr marL="0" lvl="0" indent="0">
              <a:spcBef>
                <a:spcPts val="3000"/>
              </a:spcBef>
              <a:buNone/>
            </a:pPr>
            <a:r>
              <a:rPr b="1" dirty="0"/>
              <a:t>Web Technologies Used</a:t>
            </a:r>
          </a:p>
          <a:p>
            <a:pPr marL="0" lvl="0" indent="0">
              <a:buNone/>
            </a:pPr>
            <a:r>
              <a:rPr b="1" dirty="0"/>
              <a:t>Frontend Framework</a:t>
            </a:r>
            <a:r>
              <a:rPr dirty="0"/>
              <a:t> - </a:t>
            </a:r>
            <a:r>
              <a:rPr b="1" dirty="0"/>
              <a:t>React</a:t>
            </a:r>
            <a:r>
              <a:rPr dirty="0"/>
              <a:t> (Vite build tool): Fast, component-based UI development - </a:t>
            </a:r>
            <a:r>
              <a:rPr b="1" dirty="0"/>
              <a:t>Tailwind CSS</a:t>
            </a:r>
            <a:r>
              <a:rPr dirty="0"/>
              <a:t>: Utility-first styling for responsive design</a:t>
            </a:r>
          </a:p>
          <a:p>
            <a:pPr marL="0" lvl="0" indent="0">
              <a:buNone/>
            </a:pPr>
            <a:r>
              <a:rPr b="1" dirty="0"/>
              <a:t>Visualization Libraries</a:t>
            </a:r>
            <a:r>
              <a:rPr dirty="0"/>
              <a:t> - </a:t>
            </a:r>
            <a:r>
              <a:rPr b="1" dirty="0"/>
              <a:t>Recharts</a:t>
            </a:r>
            <a:r>
              <a:rPr dirty="0"/>
              <a:t>: Chart components for altitude error profiles - </a:t>
            </a:r>
            <a:r>
              <a:rPr b="1" dirty="0"/>
              <a:t>D3.js</a:t>
            </a:r>
            <a:r>
              <a:rPr dirty="0"/>
              <a:t>: Custom geospatial visualizations using Mollweide projection - </a:t>
            </a:r>
            <a:r>
              <a:rPr b="1" dirty="0" err="1"/>
              <a:t>GeoJSON</a:t>
            </a:r>
            <a:r>
              <a:rPr dirty="0"/>
              <a:t>: World map rendering with error overlays</a:t>
            </a:r>
          </a:p>
          <a:p>
            <a:pPr marL="0" lvl="0" indent="0">
              <a:buNone/>
            </a:pPr>
            <a:r>
              <a:rPr b="1" dirty="0"/>
              <a:t>Key Features</a:t>
            </a:r>
            <a:r>
              <a:rPr dirty="0"/>
              <a:t> - 100% </a:t>
            </a:r>
            <a:r>
              <a:rPr b="1" dirty="0"/>
              <a:t>client-side application</a:t>
            </a:r>
            <a:r>
              <a:rPr dirty="0"/>
              <a:t> - no backend server required - Interactive controls: component selection, G-level/</a:t>
            </a:r>
            <a:r>
              <a:rPr dirty="0" err="1"/>
              <a:t>Kp</a:t>
            </a:r>
            <a:r>
              <a:rPr dirty="0"/>
              <a:t> selection, error model switching - Real-time altitude limit calculation with linear interpolation - Dual view modes: Global error maps + Altitude profile charts</a:t>
            </a:r>
          </a:p>
          <a:p>
            <a:pPr marL="0" lvl="0" indent="0">
              <a:buNone/>
            </a:pPr>
            <a:r>
              <a:rPr b="1" dirty="0"/>
              <a:t>Deployment</a:t>
            </a:r>
            <a:r>
              <a:rPr dirty="0"/>
              <a:t> - </a:t>
            </a:r>
            <a:r>
              <a:rPr b="1" dirty="0"/>
              <a:t>GitHub</a:t>
            </a:r>
            <a:r>
              <a:rPr dirty="0"/>
              <a:t>: Version control and source hosting - </a:t>
            </a:r>
            <a:r>
              <a:rPr b="1" dirty="0" err="1"/>
              <a:t>Vercel</a:t>
            </a:r>
            <a:r>
              <a:rPr dirty="0"/>
              <a:t>: Automatic deployment from main branch - </a:t>
            </a:r>
            <a:r>
              <a:rPr b="1" dirty="0"/>
              <a:t>Production URL</a:t>
            </a:r>
            <a:r>
              <a:rPr dirty="0"/>
              <a:t>: Live at </a:t>
            </a:r>
            <a:r>
              <a:rPr dirty="0" err="1"/>
              <a:t>Vercel</a:t>
            </a:r>
            <a:r>
              <a:rPr dirty="0"/>
              <a:t> subdomain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 marL="0" lvl="0" indent="0">
              <a:buNone/>
            </a:pPr>
            <a:r>
              <a:rPr dirty="0"/>
              <a:t>Slide 3: Development Process - AI-Powered Workflow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962407"/>
            <a:ext cx="8229600" cy="3394472"/>
          </a:xfrm>
        </p:spPr>
        <p:txBody>
          <a:bodyPr>
            <a:normAutofit fontScale="62500" lnSpcReduction="20000"/>
          </a:bodyPr>
          <a:lstStyle/>
          <a:p>
            <a:pPr marL="0" lvl="0" indent="0">
              <a:spcBef>
                <a:spcPts val="3000"/>
              </a:spcBef>
              <a:buNone/>
            </a:pPr>
            <a:r>
              <a:rPr b="1" dirty="0"/>
              <a:t>Built Entirely with Claude Code</a:t>
            </a:r>
          </a:p>
          <a:p>
            <a:pPr marL="0" lvl="0" indent="0">
              <a:buNone/>
            </a:pPr>
            <a:r>
              <a:rPr b="1" dirty="0"/>
              <a:t>What is Claude Code?</a:t>
            </a:r>
            <a:r>
              <a:rPr dirty="0"/>
              <a:t> - AI-powered development assistant by Anthropic - Autonomous coding agent with full development capabilities - Direct integration with VS Code, Git, and terminal</a:t>
            </a:r>
          </a:p>
          <a:p>
            <a:pPr marL="0" lvl="0" indent="0">
              <a:buNone/>
            </a:pPr>
            <a:r>
              <a:rPr b="1" dirty="0"/>
              <a:t>Development Highlights</a:t>
            </a:r>
            <a:r>
              <a:rPr dirty="0"/>
              <a:t> ✅ </a:t>
            </a:r>
            <a:r>
              <a:rPr b="1" dirty="0"/>
              <a:t>Initial Setup</a:t>
            </a:r>
            <a:r>
              <a:rPr dirty="0"/>
              <a:t>: Project scaffolding with Vite + React + Tailwind ✅ </a:t>
            </a:r>
            <a:r>
              <a:rPr b="1" dirty="0"/>
              <a:t>Data Integration</a:t>
            </a:r>
            <a:r>
              <a:rPr dirty="0"/>
              <a:t>: JSON parsing and state management for 6 G-level datasets ✅ </a:t>
            </a:r>
            <a:r>
              <a:rPr b="1" dirty="0"/>
              <a:t>Complex Visualizations</a:t>
            </a:r>
            <a:r>
              <a:rPr dirty="0"/>
              <a:t>: D3 map projections, Recharts configuration, logarithmic scales ✅ </a:t>
            </a:r>
            <a:r>
              <a:rPr b="1" dirty="0"/>
              <a:t>Algorithm Implementation</a:t>
            </a:r>
            <a:r>
              <a:rPr dirty="0"/>
              <a:t>: Altitude limit calculation matching MATLAB logic ✅ </a:t>
            </a:r>
            <a:r>
              <a:rPr b="1" dirty="0"/>
              <a:t>Iterative Refinement</a:t>
            </a:r>
            <a:r>
              <a:rPr dirty="0"/>
              <a:t>: Multiple rounds of UI/UX improvements based on feedback ✅ </a:t>
            </a:r>
            <a:r>
              <a:rPr b="1" dirty="0"/>
              <a:t>Git Workflow</a:t>
            </a:r>
            <a:r>
              <a:rPr dirty="0"/>
              <a:t>: Automated commits with descriptive messages, branch management ✅ </a:t>
            </a:r>
            <a:r>
              <a:rPr b="1" dirty="0"/>
              <a:t>Deployment</a:t>
            </a:r>
            <a:r>
              <a:rPr dirty="0"/>
              <a:t>: </a:t>
            </a:r>
            <a:r>
              <a:rPr dirty="0" err="1"/>
              <a:t>Vercel</a:t>
            </a:r>
            <a:r>
              <a:rPr dirty="0"/>
              <a:t> integration and production deployment</a:t>
            </a:r>
            <a:r>
              <a:rPr lang="en-US" dirty="0"/>
              <a:t>. ✅ </a:t>
            </a:r>
            <a:r>
              <a:rPr lang="en-US" b="1" dirty="0"/>
              <a:t>Security audited</a:t>
            </a:r>
            <a:r>
              <a:rPr lang="en-US" dirty="0"/>
              <a:t>: No vulnerabilities found (client-side only application with no server-side code or sensitive data handling).</a:t>
            </a:r>
            <a:endParaRPr dirty="0"/>
          </a:p>
          <a:p>
            <a:pPr marL="0" lvl="0" indent="0">
              <a:buNone/>
            </a:pPr>
            <a:r>
              <a:rPr b="1" dirty="0"/>
              <a:t>Key Accomplishments</a:t>
            </a:r>
            <a:r>
              <a:rPr dirty="0"/>
              <a:t> - </a:t>
            </a:r>
            <a:r>
              <a:rPr b="1" dirty="0"/>
              <a:t>Interpolation accuracy</a:t>
            </a:r>
            <a:r>
              <a:rPr dirty="0"/>
              <a:t>: Linear interpolation for exact threshold crossing (rounded to nearest 100 km) - </a:t>
            </a:r>
            <a:r>
              <a:rPr b="1" dirty="0"/>
              <a:t>Edge case handling</a:t>
            </a:r>
            <a:r>
              <a:rPr dirty="0"/>
              <a:t>: “Exceeds at all altitudes” and “Valid for all altitudes” detection - </a:t>
            </a:r>
            <a:r>
              <a:rPr b="1" dirty="0"/>
              <a:t>Performance</a:t>
            </a:r>
            <a:r>
              <a:rPr dirty="0"/>
              <a:t>: Optimized rendering for large geospatial datasets - </a:t>
            </a:r>
            <a:r>
              <a:rPr b="1" dirty="0"/>
              <a:t>No security vulnerabilities</a:t>
            </a:r>
            <a:r>
              <a:rPr dirty="0"/>
              <a:t>: Client-side only, no sensitive data exposure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lvl="0" indent="0">
              <a:buNone/>
            </a:pPr>
            <a:r>
              <a:t>Slide 4: Results &amp; Impact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998983"/>
            <a:ext cx="8229600" cy="3394472"/>
          </a:xfrm>
        </p:spPr>
        <p:txBody>
          <a:bodyPr>
            <a:normAutofit fontScale="47500" lnSpcReduction="20000"/>
          </a:bodyPr>
          <a:lstStyle/>
          <a:p>
            <a:pPr marL="0" lvl="0" indent="0">
              <a:spcBef>
                <a:spcPts val="3000"/>
              </a:spcBef>
              <a:buNone/>
            </a:pPr>
            <a:r>
              <a:rPr b="1" dirty="0"/>
              <a:t>From Static Analysis to Interactive Tool</a:t>
            </a:r>
          </a:p>
          <a:p>
            <a:pPr marL="0" lvl="0" indent="0">
              <a:buNone/>
            </a:pPr>
            <a:r>
              <a:rPr b="1" dirty="0"/>
              <a:t>MATLAB (Before)</a:t>
            </a:r>
            <a:r>
              <a:rPr dirty="0"/>
              <a:t> - Static plots requiring script modifications for different parameters - Output: PNG images and text tables - Limited interactivity - Requires MATLAB license</a:t>
            </a:r>
          </a:p>
          <a:p>
            <a:pPr marL="0" lvl="0" indent="0">
              <a:buNone/>
            </a:pPr>
            <a:r>
              <a:rPr b="1" dirty="0"/>
              <a:t>Web App (After)</a:t>
            </a:r>
            <a:r>
              <a:rPr dirty="0"/>
              <a:t> - </a:t>
            </a:r>
            <a:r>
              <a:rPr b="1" dirty="0"/>
              <a:t>Interactive exploration</a:t>
            </a:r>
            <a:r>
              <a:rPr dirty="0"/>
              <a:t>: Click to change components, G-levels, error models - </a:t>
            </a:r>
            <a:r>
              <a:rPr b="1" dirty="0"/>
              <a:t>Real-time updates</a:t>
            </a:r>
            <a:r>
              <a:rPr dirty="0"/>
              <a:t>: Instant visualization of altitude limits and global error patterns - </a:t>
            </a:r>
            <a:r>
              <a:rPr b="1" dirty="0"/>
              <a:t>Accessible</a:t>
            </a:r>
            <a:r>
              <a:rPr dirty="0"/>
              <a:t>: Works in any web browser, no software installation - </a:t>
            </a:r>
            <a:r>
              <a:rPr b="1" dirty="0"/>
              <a:t>Shareable</a:t>
            </a:r>
            <a:r>
              <a:rPr dirty="0"/>
              <a:t>: </a:t>
            </a:r>
            <a:r>
              <a:rPr dirty="0" err="1"/>
              <a:t>Vercel</a:t>
            </a:r>
            <a:r>
              <a:rPr dirty="0"/>
              <a:t> deployment URL for global access - </a:t>
            </a:r>
            <a:r>
              <a:rPr b="1" dirty="0"/>
              <a:t>Validated</a:t>
            </a:r>
            <a:r>
              <a:rPr dirty="0"/>
              <a:t>: Calculations match MATLAB outputs (verified against original scripts)</a:t>
            </a:r>
          </a:p>
          <a:p>
            <a:pPr marL="0" lvl="0" indent="0">
              <a:spcBef>
                <a:spcPts val="3000"/>
              </a:spcBef>
              <a:buNone/>
            </a:pPr>
            <a:r>
              <a:rPr b="1" dirty="0"/>
              <a:t>Technical Achievements</a:t>
            </a:r>
          </a:p>
          <a:p>
            <a:pPr lvl="0"/>
            <a:r>
              <a:rPr b="1" dirty="0"/>
              <a:t>Altitude limit accuracy</a:t>
            </a:r>
            <a:r>
              <a:rPr dirty="0"/>
              <a:t>: Interpolated crossing detection rounded to nearest 100 km</a:t>
            </a:r>
          </a:p>
          <a:p>
            <a:pPr lvl="0"/>
            <a:r>
              <a:rPr b="1" dirty="0"/>
              <a:t>3 Special cases handled</a:t>
            </a:r>
            <a:r>
              <a:rPr dirty="0"/>
              <a:t>: Normal crossing, exceeds at all altitudes, valid for all altitudes</a:t>
            </a:r>
          </a:p>
          <a:p>
            <a:pPr lvl="0"/>
            <a:r>
              <a:rPr b="1" dirty="0"/>
              <a:t>Help documentation</a:t>
            </a:r>
            <a:r>
              <a:rPr dirty="0"/>
              <a:t>: Built-in guide explaining WMM, geomagnetic indices, and usage</a:t>
            </a:r>
          </a:p>
          <a:p>
            <a:pPr lvl="0"/>
            <a:r>
              <a:rPr b="1" dirty="0"/>
              <a:t>Responsive design</a:t>
            </a:r>
            <a:r>
              <a:rPr dirty="0"/>
              <a:t>: Works on desktop and mobile devices</a:t>
            </a:r>
          </a:p>
          <a:p>
            <a:pPr marL="0" lvl="0" indent="0">
              <a:spcBef>
                <a:spcPts val="3000"/>
              </a:spcBef>
              <a:buNone/>
            </a:pPr>
            <a:r>
              <a:rPr b="1" dirty="0"/>
              <a:t>Development Stats</a:t>
            </a:r>
          </a:p>
          <a:p>
            <a:pPr lvl="0"/>
            <a:r>
              <a:rPr b="1" dirty="0"/>
              <a:t>Lines of Code</a:t>
            </a:r>
            <a:r>
              <a:rPr dirty="0"/>
              <a:t>: ~2,500+ (React components, utilities, styling)</a:t>
            </a:r>
          </a:p>
          <a:p>
            <a:pPr lvl="0"/>
            <a:r>
              <a:rPr b="1" dirty="0"/>
              <a:t>Development Time</a:t>
            </a:r>
            <a:r>
              <a:rPr dirty="0"/>
              <a:t>: Rapid iteration with Claude Code</a:t>
            </a:r>
          </a:p>
          <a:p>
            <a:pPr lvl="0"/>
            <a:r>
              <a:rPr b="1" dirty="0"/>
              <a:t>Git Commits</a:t>
            </a:r>
            <a:r>
              <a:rPr dirty="0"/>
              <a:t>: 50+ commits with detailed messages</a:t>
            </a:r>
          </a:p>
          <a:p>
            <a:pPr lvl="0"/>
            <a:r>
              <a:rPr b="1" dirty="0"/>
              <a:t>Zero manual coding</a:t>
            </a:r>
            <a:r>
              <a:rPr dirty="0"/>
              <a:t>: Entirely built through AI assistance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lvl="0" indent="0">
              <a:buNone/>
            </a:pPr>
            <a:r>
              <a:t>Appendix: Key Files &amp; Resources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874514"/>
            <a:ext cx="8229600" cy="3394472"/>
          </a:xfrm>
        </p:spPr>
        <p:txBody>
          <a:bodyPr>
            <a:normAutofit fontScale="77500" lnSpcReduction="20000"/>
          </a:bodyPr>
          <a:lstStyle/>
          <a:p>
            <a:pPr marL="0" lvl="0" indent="0">
              <a:buNone/>
            </a:pPr>
            <a:r>
              <a:rPr b="1" dirty="0"/>
              <a:t>Data Files</a:t>
            </a:r>
            <a:r>
              <a:rPr dirty="0"/>
              <a:t> (JSON format) - </a:t>
            </a:r>
            <a:r>
              <a:rPr dirty="0">
                <a:latin typeface="Courier"/>
              </a:rPr>
              <a:t>G0_data_with_commission.json</a:t>
            </a:r>
            <a:r>
              <a:rPr dirty="0"/>
              <a:t> through </a:t>
            </a:r>
            <a:r>
              <a:rPr dirty="0">
                <a:latin typeface="Courier"/>
              </a:rPr>
              <a:t>G5_data_with_commission.json</a:t>
            </a:r>
            <a:r>
              <a:rPr dirty="0"/>
              <a:t> - </a:t>
            </a:r>
            <a:r>
              <a:rPr dirty="0" err="1">
                <a:latin typeface="Courier"/>
              </a:rPr>
              <a:t>WMM_data.json</a:t>
            </a:r>
            <a:r>
              <a:rPr dirty="0"/>
              <a:t> (reference model data)</a:t>
            </a:r>
          </a:p>
          <a:p>
            <a:pPr marL="0" lvl="0" indent="0">
              <a:buNone/>
            </a:pPr>
            <a:r>
              <a:rPr b="1" dirty="0"/>
              <a:t>Core Components</a:t>
            </a:r>
            <a:r>
              <a:rPr dirty="0"/>
              <a:t> - </a:t>
            </a:r>
            <a:r>
              <a:rPr dirty="0">
                <a:latin typeface="Courier"/>
              </a:rPr>
              <a:t>D3MapViewOptimized.jsx</a:t>
            </a:r>
            <a:r>
              <a:rPr dirty="0"/>
              <a:t>: Global error map with Mollweide projection - </a:t>
            </a:r>
            <a:r>
              <a:rPr dirty="0">
                <a:latin typeface="Courier"/>
              </a:rPr>
              <a:t>D3AltitudeLimitMap.jsx</a:t>
            </a:r>
            <a:r>
              <a:rPr dirty="0"/>
              <a:t>: Altitude limit visualization by location - </a:t>
            </a:r>
            <a:r>
              <a:rPr dirty="0" err="1">
                <a:latin typeface="Courier"/>
              </a:rPr>
              <a:t>AltitudeNormalizedChart.jsx</a:t>
            </a:r>
            <a:r>
              <a:rPr dirty="0"/>
              <a:t>: Error profile vs altitude with threshold crossing - </a:t>
            </a:r>
            <a:r>
              <a:rPr dirty="0" err="1">
                <a:latin typeface="Courier"/>
              </a:rPr>
              <a:t>Controls.jsx</a:t>
            </a:r>
            <a:r>
              <a:rPr dirty="0"/>
              <a:t>: User interface for parameter selection</a:t>
            </a:r>
          </a:p>
          <a:p>
            <a:pPr marL="0" lvl="0" indent="0">
              <a:buNone/>
            </a:pPr>
            <a:r>
              <a:rPr b="1" dirty="0"/>
              <a:t>Deployment</a:t>
            </a:r>
            <a:r>
              <a:rPr dirty="0"/>
              <a:t> - </a:t>
            </a:r>
            <a:r>
              <a:rPr b="1" dirty="0"/>
              <a:t>Repository</a:t>
            </a:r>
            <a:r>
              <a:rPr dirty="0"/>
              <a:t>: GitHub (public/private as configured) - </a:t>
            </a:r>
            <a:r>
              <a:rPr b="1" dirty="0"/>
              <a:t>CI/CD</a:t>
            </a:r>
            <a:r>
              <a:rPr dirty="0"/>
              <a:t>: Automatic </a:t>
            </a:r>
            <a:r>
              <a:rPr dirty="0" err="1"/>
              <a:t>Vercel</a:t>
            </a:r>
            <a:r>
              <a:rPr dirty="0"/>
              <a:t> deployment on push to main - </a:t>
            </a:r>
            <a:r>
              <a:rPr b="1" dirty="0"/>
              <a:t>Production</a:t>
            </a:r>
            <a:r>
              <a:rPr dirty="0"/>
              <a:t>: Live web application</a:t>
            </a:r>
          </a:p>
          <a:p>
            <a:pPr marL="0" lvl="0" indent="0">
              <a:buNone/>
            </a:pPr>
            <a:r>
              <a:rPr b="1" dirty="0"/>
              <a:t>MATLAB Reference</a:t>
            </a:r>
            <a:r>
              <a:rPr dirty="0"/>
              <a:t> - Original script: </a:t>
            </a:r>
            <a:r>
              <a:rPr dirty="0">
                <a:latin typeface="Courier"/>
              </a:rPr>
              <a:t>wmm_altitude_task2_plots_2.m</a:t>
            </a:r>
            <a:r>
              <a:rPr dirty="0"/>
              <a:t> - Validation: Web app calculations verified against MATLAB outputs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861</Words>
  <Application>Microsoft Macintosh PowerPoint</Application>
  <PresentationFormat>On-screen Show (16:9)</PresentationFormat>
  <Paragraphs>45</Paragraphs>
  <Slides>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1" baseType="lpstr">
      <vt:lpstr>Arial</vt:lpstr>
      <vt:lpstr>Calibri</vt:lpstr>
      <vt:lpstr>Courier</vt:lpstr>
      <vt:lpstr>Office Theme</vt:lpstr>
      <vt:lpstr>WMM Altitude Error Visualizer BY claude code and manoj</vt:lpstr>
      <vt:lpstr>Development Journey: From MATLAB to Interactive Web App</vt:lpstr>
      <vt:lpstr>Slide 1: Project Genesis - From MATLAB to Web</vt:lpstr>
      <vt:lpstr>Slide 2: Technology Stack &amp; Architecture</vt:lpstr>
      <vt:lpstr>Slide 3: Development Process - AI-Powered Workflow</vt:lpstr>
      <vt:lpstr>Slide 4: Results &amp; Impact</vt:lpstr>
      <vt:lpstr>Appendix: Key Files &amp; Resources</vt:lpstr>
    </vt:vector>
  </TitlesOfParts>
  <LinksUpToDate>false</LinksUpToDate>
  <SharedDoc>false</SharedDoc>
  <HyperlinksChanged>false</HyperlinksChanged>
  <AppVersion>16.0000</AppVersion>
</Properties>
</file>

<file path=docProps/app0.xml><?xml version="1.0" encoding="utf-8"?>
<Properties xmlns="http://schemas.openxmlformats.org/officeDocument/2006/extended-properties" xmlns:vt="http://schemas.openxmlformats.org/officeDocument/2006/docPropsVTypes">
  <TotalTime>2</TotalTime>
  <Words>49</Words>
  <Application>Microsoft Macintosh PowerPoint</Application>
  <PresentationFormat>On-screen Show (16:9)</PresentationFormat>
  <Paragraphs>15</Paragraphs>
  <Slides>4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7" baseType="lpstr">
      <vt:lpstr>Arial</vt:lpstr>
      <vt:lpstr>Calibri</vt:lpstr>
      <vt:lpstr>Office Theme</vt:lpstr>
      <vt:lpstr>Presentation Title</vt:lpstr>
      <vt:lpstr>Slide Title</vt:lpstr>
      <vt:lpstr>Section header</vt:lpstr>
      <vt:lpstr>Slide Title for Two-Content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keywords/>
  <cp:lastModifiedBy>Manoj Chandrasekharan Nair</cp:lastModifiedBy>
  <cp:revision>2</cp:revision>
  <dcterms:created xsi:type="dcterms:W3CDTF">2026-01-14T00:28:23Z</dcterms:created>
  <dcterms:modified xsi:type="dcterms:W3CDTF">2026-01-14T00:36:32Z</dcterms:modified>
</cp:coreProperties>
</file>